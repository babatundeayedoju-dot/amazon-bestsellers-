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84" r:id="rId8"/>
    <p:sldId id="282" r:id="rId9"/>
    <p:sldId id="281" r:id="rId10"/>
    <p:sldId id="290" r:id="rId11"/>
    <p:sldId id="283" r:id="rId12"/>
    <p:sldId id="289" r:id="rId13"/>
    <p:sldId id="285" r:id="rId14"/>
    <p:sldId id="288" r:id="rId15"/>
    <p:sldId id="286" r:id="rId16"/>
    <p:sldId id="28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8" userDrawn="1">
          <p15:clr>
            <a:srgbClr val="A4A3A4"/>
          </p15:clr>
        </p15:guide>
        <p15:guide id="3" pos="234" userDrawn="1">
          <p15:clr>
            <a:srgbClr val="A4A3A4"/>
          </p15:clr>
        </p15:guide>
        <p15:guide id="4" pos="7446" userDrawn="1">
          <p15:clr>
            <a:srgbClr val="A4A3A4"/>
          </p15:clr>
        </p15:guide>
        <p15:guide id="5" orient="horz" pos="4065" userDrawn="1">
          <p15:clr>
            <a:srgbClr val="A4A3A4"/>
          </p15:clr>
        </p15:guide>
        <p15:guide id="7" orient="horz" pos="40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6B6B"/>
    <a:srgbClr val="7FCCCF"/>
    <a:srgbClr val="F7C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69F187-61CD-4966-A7C6-F9B4AB64D9A6}" v="94" dt="2025-01-24T09:11:42.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83" d="100"/>
          <a:sy n="83" d="100"/>
        </p:scale>
        <p:origin x="858" y="66"/>
      </p:cViewPr>
      <p:guideLst>
        <p:guide orient="horz" pos="278"/>
        <p:guide pos="234"/>
        <p:guide pos="7446"/>
        <p:guide orient="horz" pos="4065"/>
        <p:guide orient="horz" pos="4020"/>
      </p:guideLst>
    </p:cSldViewPr>
  </p:slideViewPr>
  <p:notesTextViewPr>
    <p:cViewPr>
      <p:scale>
        <a:sx n="1" d="1"/>
        <a:sy n="1" d="1"/>
      </p:scale>
      <p:origin x="0" y="0"/>
    </p:cViewPr>
  </p:notesTextViewPr>
  <p:gridSpacing cx="120000" cy="120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2A989-C1BD-4D41-BDA0-553FF56CB6C6}" type="datetimeFigureOut">
              <a:rPr lang="en-IN" smtClean="0"/>
              <a:t>09-01-2026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35E315-805F-436C-886B-B7E726E0B11D}" type="slidenum">
              <a:rPr lang="en-IN" smtClean="0"/>
              <a:t>‹#›</a:t>
            </a:fld>
            <a:endParaRPr lang="en-IN"/>
          </a:p>
        </p:txBody>
      </p:sp>
    </p:spTree>
    <p:extLst>
      <p:ext uri="{BB962C8B-B14F-4D97-AF65-F5344CB8AC3E}">
        <p14:creationId xmlns:p14="http://schemas.microsoft.com/office/powerpoint/2010/main" val="3365724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35E315-805F-436C-886B-B7E726E0B11D}" type="slidenum">
              <a:rPr lang="en-IN" smtClean="0"/>
              <a:t>4</a:t>
            </a:fld>
            <a:endParaRPr lang="en-IN"/>
          </a:p>
        </p:txBody>
      </p:sp>
    </p:spTree>
    <p:extLst>
      <p:ext uri="{BB962C8B-B14F-4D97-AF65-F5344CB8AC3E}">
        <p14:creationId xmlns:p14="http://schemas.microsoft.com/office/powerpoint/2010/main" val="1916108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FE9E4-CF65-CCB3-8FB1-159EB4E7D4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2D2515-3294-AEBC-3640-D9C23F21A3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9853284-9286-8092-53C6-DCBB0CDC886E}"/>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5" name="Footer Placeholder 4">
            <a:extLst>
              <a:ext uri="{FF2B5EF4-FFF2-40B4-BE49-F238E27FC236}">
                <a16:creationId xmlns:a16="http://schemas.microsoft.com/office/drawing/2014/main" id="{6CC5D70C-891B-EEB6-DA5C-E0AF91ED75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55E1FC-A860-1113-A410-DE4F6F1D8F3B}"/>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3927892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992F-2720-8C05-2991-A1BCD2A029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7EFAE8-0663-896D-4730-0616B2B8C0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8EAB05-31AC-F00B-8986-682953FABA2E}"/>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5" name="Footer Placeholder 4">
            <a:extLst>
              <a:ext uri="{FF2B5EF4-FFF2-40B4-BE49-F238E27FC236}">
                <a16:creationId xmlns:a16="http://schemas.microsoft.com/office/drawing/2014/main" id="{C6D83696-0F00-C40C-B487-26B50F2393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AE2CCA-8007-E04F-2C9F-10292D244DBF}"/>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9041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6BEB-8080-E34A-8D68-B45B2C2ED1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486E3F-0236-A745-C79C-183899ADCC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C41DDD-0C60-B7FB-265D-CE0A40989C03}"/>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5" name="Footer Placeholder 4">
            <a:extLst>
              <a:ext uri="{FF2B5EF4-FFF2-40B4-BE49-F238E27FC236}">
                <a16:creationId xmlns:a16="http://schemas.microsoft.com/office/drawing/2014/main" id="{15E49035-8C27-C217-BB0C-3A505159EC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39FCE1-1C32-E536-4C37-11EF966479DE}"/>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86761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EECCC-6133-6803-7700-5A55D8A698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87B302-E849-4C18-3CAD-923AE81C82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8F90A2-3865-2DFB-84C4-4FCF70D6EE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095FC15-31CF-E14E-1E57-F5B33709DCF9}"/>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6" name="Footer Placeholder 5">
            <a:extLst>
              <a:ext uri="{FF2B5EF4-FFF2-40B4-BE49-F238E27FC236}">
                <a16:creationId xmlns:a16="http://schemas.microsoft.com/office/drawing/2014/main" id="{4BAEA8D3-5D83-92EF-0417-C81443EC3E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DF5F8D-1D82-F333-9A15-AFA392271D52}"/>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1942167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A0346-E64D-95A7-3739-5BF354DB644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A2515F-F6A0-9BB6-D5E0-E5E9D38CA6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23BB58-769F-F22A-D8F8-7596B5E7C9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CDEB3D-15EB-BD7D-559C-6115A5582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F294B3-EBCA-791C-9455-B627AEC77F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D6553DB-52BB-1FD8-5271-6936433004DA}"/>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8" name="Footer Placeholder 7">
            <a:extLst>
              <a:ext uri="{FF2B5EF4-FFF2-40B4-BE49-F238E27FC236}">
                <a16:creationId xmlns:a16="http://schemas.microsoft.com/office/drawing/2014/main" id="{92D99987-C997-4A56-2882-E22D5EFAD66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5DF0F92-9F26-527E-A0EB-D001F02972C5}"/>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2234160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676CF-CA5F-1E8C-D5FF-399CE33ACB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AAC9AB-ECCA-5A79-3CF0-7F37CB2BE255}"/>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4" name="Footer Placeholder 3">
            <a:extLst>
              <a:ext uri="{FF2B5EF4-FFF2-40B4-BE49-F238E27FC236}">
                <a16:creationId xmlns:a16="http://schemas.microsoft.com/office/drawing/2014/main" id="{82B0074F-B440-173E-AA37-2B41E83510B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1170FB1-7B53-E05C-FA1A-6DEFA0E5D451}"/>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3072435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6D316-288C-C1CE-59CF-572CB22799E6}"/>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3" name="Footer Placeholder 2">
            <a:extLst>
              <a:ext uri="{FF2B5EF4-FFF2-40B4-BE49-F238E27FC236}">
                <a16:creationId xmlns:a16="http://schemas.microsoft.com/office/drawing/2014/main" id="{DA5795BE-DD99-4B59-E49E-8F48513641F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D931E2-2DA0-C36A-CF24-74126C7806C7}"/>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1147900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E441F-A739-4309-480D-32368D4140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7A8ED5-9AEE-4A70-9209-487C6C6B74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52756B-4785-F283-F0C1-77C3D5D4C6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1BE58-0699-AD40-CD47-6DDF4D34D47C}"/>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6" name="Footer Placeholder 5">
            <a:extLst>
              <a:ext uri="{FF2B5EF4-FFF2-40B4-BE49-F238E27FC236}">
                <a16:creationId xmlns:a16="http://schemas.microsoft.com/office/drawing/2014/main" id="{33AF1BFC-2F38-29B5-0B52-2C1B7B83DA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6BA6E6-3902-B668-FC41-A95AEB022C22}"/>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119908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0CF75-A260-3919-E433-EA2D313BE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B4B2784-3E74-CDA0-F20E-A516AEBC22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55EB25-BE35-4EDE-E6FF-3F3346E76E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E8D9AC-820B-07A2-7D36-9F5ED9205CA0}"/>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6" name="Footer Placeholder 5">
            <a:extLst>
              <a:ext uri="{FF2B5EF4-FFF2-40B4-BE49-F238E27FC236}">
                <a16:creationId xmlns:a16="http://schemas.microsoft.com/office/drawing/2014/main" id="{AD34E41C-E592-92CF-038C-E8E1A3A8DE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F93CA7-815D-8BB3-CDC9-45D434E5CBF4}"/>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219090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8A17E-F690-D68C-ECD1-C5DA53D6CF2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7512E8-F9D5-1BDF-AD28-A2908C8559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D71557-71ED-98E5-A682-82D559C056FE}"/>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5" name="Footer Placeholder 4">
            <a:extLst>
              <a:ext uri="{FF2B5EF4-FFF2-40B4-BE49-F238E27FC236}">
                <a16:creationId xmlns:a16="http://schemas.microsoft.com/office/drawing/2014/main" id="{6FBC5BEE-8F95-CA3B-2A67-7DA8325701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70057A-56C6-B1E0-A9B0-160EE13BBE81}"/>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502364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36C8E7-2950-2998-4BEF-8591844035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39FEBC-4609-72B1-4527-F525492F9B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C530DD-9F28-E07F-691F-5A6B9AFD41E1}"/>
              </a:ext>
            </a:extLst>
          </p:cNvPr>
          <p:cNvSpPr>
            <a:spLocks noGrp="1"/>
          </p:cNvSpPr>
          <p:nvPr>
            <p:ph type="dt" sz="half" idx="10"/>
          </p:nvPr>
        </p:nvSpPr>
        <p:spPr/>
        <p:txBody>
          <a:bodyPr/>
          <a:lstStyle/>
          <a:p>
            <a:fld id="{B87AB29A-CF9C-4EED-B41D-F0B8F3C633DB}" type="datetimeFigureOut">
              <a:rPr lang="en-IN" smtClean="0"/>
              <a:t>09-01-2026</a:t>
            </a:fld>
            <a:endParaRPr lang="en-IN"/>
          </a:p>
        </p:txBody>
      </p:sp>
      <p:sp>
        <p:nvSpPr>
          <p:cNvPr id="5" name="Footer Placeholder 4">
            <a:extLst>
              <a:ext uri="{FF2B5EF4-FFF2-40B4-BE49-F238E27FC236}">
                <a16:creationId xmlns:a16="http://schemas.microsoft.com/office/drawing/2014/main" id="{A9D2CBA5-ACF1-B189-1429-09BD2760C9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49EA49-2B63-EBE7-8BA2-ED01F5E3A03E}"/>
              </a:ext>
            </a:extLst>
          </p:cNvPr>
          <p:cNvSpPr>
            <a:spLocks noGrp="1"/>
          </p:cNvSpPr>
          <p:nvPr>
            <p:ph type="sldNum" sz="quarter" idx="12"/>
          </p:nvPr>
        </p:nvSpPr>
        <p:spPr/>
        <p:txBody>
          <a:bodyPr/>
          <a:lstStyle/>
          <a:p>
            <a:fld id="{DA8DD845-F27E-4398-B41C-45BECC5BCCA6}" type="slidenum">
              <a:rPr lang="en-IN" smtClean="0"/>
              <a:t>‹#›</a:t>
            </a:fld>
            <a:endParaRPr lang="en-IN"/>
          </a:p>
        </p:txBody>
      </p:sp>
    </p:spTree>
    <p:extLst>
      <p:ext uri="{BB962C8B-B14F-4D97-AF65-F5344CB8AC3E}">
        <p14:creationId xmlns:p14="http://schemas.microsoft.com/office/powerpoint/2010/main" val="2482850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8CD653C-49B7-9E17-94EA-0D6097B562E3}"/>
              </a:ext>
            </a:extLst>
          </p:cNvPr>
          <p:cNvSpPr>
            <a:spLocks noGrp="1"/>
          </p:cNvSpPr>
          <p:nvPr>
            <p:ph type="pic" sz="quarter" idx="10"/>
          </p:nvPr>
        </p:nvSpPr>
        <p:spPr>
          <a:xfrm>
            <a:off x="1194320" y="1595535"/>
            <a:ext cx="3032449" cy="3666931"/>
          </a:xfrm>
          <a:custGeom>
            <a:avLst/>
            <a:gdLst>
              <a:gd name="connsiteX0" fmla="*/ 197503 w 3032449"/>
              <a:gd name="connsiteY0" fmla="*/ 0 h 3666931"/>
              <a:gd name="connsiteX1" fmla="*/ 2834946 w 3032449"/>
              <a:gd name="connsiteY1" fmla="*/ 0 h 3666931"/>
              <a:gd name="connsiteX2" fmla="*/ 3032449 w 3032449"/>
              <a:gd name="connsiteY2" fmla="*/ 197503 h 3666931"/>
              <a:gd name="connsiteX3" fmla="*/ 3032449 w 3032449"/>
              <a:gd name="connsiteY3" fmla="*/ 3469428 h 3666931"/>
              <a:gd name="connsiteX4" fmla="*/ 2834946 w 3032449"/>
              <a:gd name="connsiteY4" fmla="*/ 3666931 h 3666931"/>
              <a:gd name="connsiteX5" fmla="*/ 197503 w 3032449"/>
              <a:gd name="connsiteY5" fmla="*/ 3666931 h 3666931"/>
              <a:gd name="connsiteX6" fmla="*/ 0 w 3032449"/>
              <a:gd name="connsiteY6" fmla="*/ 3469428 h 3666931"/>
              <a:gd name="connsiteX7" fmla="*/ 0 w 3032449"/>
              <a:gd name="connsiteY7" fmla="*/ 197503 h 3666931"/>
              <a:gd name="connsiteX8" fmla="*/ 197503 w 3032449"/>
              <a:gd name="connsiteY8" fmla="*/ 0 h 366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2449" h="3666931">
                <a:moveTo>
                  <a:pt x="197503" y="0"/>
                </a:moveTo>
                <a:lnTo>
                  <a:pt x="2834946" y="0"/>
                </a:lnTo>
                <a:cubicBezTo>
                  <a:pt x="2944024" y="0"/>
                  <a:pt x="3032449" y="88425"/>
                  <a:pt x="3032449" y="197503"/>
                </a:cubicBezTo>
                <a:lnTo>
                  <a:pt x="3032449" y="3469428"/>
                </a:lnTo>
                <a:cubicBezTo>
                  <a:pt x="3032449" y="3578506"/>
                  <a:pt x="2944024" y="3666931"/>
                  <a:pt x="2834946" y="3666931"/>
                </a:cubicBezTo>
                <a:lnTo>
                  <a:pt x="197503" y="3666931"/>
                </a:lnTo>
                <a:cubicBezTo>
                  <a:pt x="88425" y="3666931"/>
                  <a:pt x="0" y="3578506"/>
                  <a:pt x="0" y="3469428"/>
                </a:cubicBezTo>
                <a:lnTo>
                  <a:pt x="0" y="197503"/>
                </a:lnTo>
                <a:cubicBezTo>
                  <a:pt x="0" y="88425"/>
                  <a:pt x="88425" y="0"/>
                  <a:pt x="197503" y="0"/>
                </a:cubicBezTo>
                <a:close/>
              </a:path>
            </a:pathLst>
          </a:custGeom>
        </p:spPr>
        <p:txBody>
          <a:bodyPr wrap="square">
            <a:noAutofit/>
          </a:bodyPr>
          <a:lstStyle/>
          <a:p>
            <a:endParaRPr lang="en-IN"/>
          </a:p>
        </p:txBody>
      </p:sp>
    </p:spTree>
    <p:extLst>
      <p:ext uri="{BB962C8B-B14F-4D97-AF65-F5344CB8AC3E}">
        <p14:creationId xmlns:p14="http://schemas.microsoft.com/office/powerpoint/2010/main" val="27508610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6D565E-8509-894A-E535-C0F51BB4AA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4B2FB8-9F90-AFD9-425A-136C41C306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2AACFB-02EE-FBCC-36FA-0E973128EB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7AB29A-CF9C-4EED-B41D-F0B8F3C633DB}" type="datetimeFigureOut">
              <a:rPr lang="en-IN" smtClean="0"/>
              <a:t>09-01-2026</a:t>
            </a:fld>
            <a:endParaRPr lang="en-IN"/>
          </a:p>
        </p:txBody>
      </p:sp>
      <p:sp>
        <p:nvSpPr>
          <p:cNvPr id="5" name="Footer Placeholder 4">
            <a:extLst>
              <a:ext uri="{FF2B5EF4-FFF2-40B4-BE49-F238E27FC236}">
                <a16:creationId xmlns:a16="http://schemas.microsoft.com/office/drawing/2014/main" id="{63FAA286-FEF7-02D4-53EE-A8A4B2D05E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41E42C1-AB31-BB18-594B-C4399AABAD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8DD845-F27E-4398-B41C-45BECC5BCCA6}" type="slidenum">
              <a:rPr lang="en-IN" smtClean="0"/>
              <a:t>‹#›</a:t>
            </a:fld>
            <a:endParaRPr lang="en-IN"/>
          </a:p>
        </p:txBody>
      </p:sp>
    </p:spTree>
    <p:extLst>
      <p:ext uri="{BB962C8B-B14F-4D97-AF65-F5344CB8AC3E}">
        <p14:creationId xmlns:p14="http://schemas.microsoft.com/office/powerpoint/2010/main" val="2620395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CCE52928-1410-22FF-AA63-50E6A56B4701}"/>
              </a:ext>
            </a:extLst>
          </p:cNvPr>
          <p:cNvSpPr/>
          <p:nvPr/>
        </p:nvSpPr>
        <p:spPr>
          <a:xfrm>
            <a:off x="3720975" y="4498258"/>
            <a:ext cx="8471026" cy="2639956"/>
          </a:xfrm>
          <a:custGeom>
            <a:avLst/>
            <a:gdLst>
              <a:gd name="connsiteX0" fmla="*/ 4265200 w 4265199"/>
              <a:gd name="connsiteY0" fmla="*/ 0 h 3261360"/>
              <a:gd name="connsiteX1" fmla="*/ 4265200 w 4265199"/>
              <a:gd name="connsiteY1" fmla="*/ 3234023 h 3261360"/>
              <a:gd name="connsiteX2" fmla="*/ 4237959 w 4265199"/>
              <a:gd name="connsiteY2" fmla="*/ 3261360 h 3261360"/>
              <a:gd name="connsiteX3" fmla="*/ 0 w 4265199"/>
              <a:gd name="connsiteY3" fmla="*/ 3261360 h 3261360"/>
              <a:gd name="connsiteX4" fmla="*/ 1142048 w 4265199"/>
              <a:gd name="connsiteY4" fmla="*/ 2708720 h 3261360"/>
              <a:gd name="connsiteX5" fmla="*/ 2770823 w 4265199"/>
              <a:gd name="connsiteY5" fmla="*/ 1021652 h 3261360"/>
              <a:gd name="connsiteX6" fmla="*/ 4265200 w 4265199"/>
              <a:gd name="connsiteY6"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199" h="3261360">
                <a:moveTo>
                  <a:pt x="4265200" y="0"/>
                </a:moveTo>
                <a:lnTo>
                  <a:pt x="4265200" y="3234023"/>
                </a:lnTo>
                <a:cubicBezTo>
                  <a:pt x="4265200" y="3249073"/>
                  <a:pt x="4253008" y="3261360"/>
                  <a:pt x="4237959" y="3261360"/>
                </a:cubicBezTo>
                <a:lnTo>
                  <a:pt x="0" y="3261360"/>
                </a:lnTo>
                <a:cubicBezTo>
                  <a:pt x="126492" y="3007805"/>
                  <a:pt x="427387" y="2888742"/>
                  <a:pt x="1142048" y="2708720"/>
                </a:cubicBezTo>
                <a:cubicBezTo>
                  <a:pt x="2065496" y="2476024"/>
                  <a:pt x="2261807" y="2025206"/>
                  <a:pt x="2770823" y="1021652"/>
                </a:cubicBezTo>
                <a:cubicBezTo>
                  <a:pt x="3210211" y="155448"/>
                  <a:pt x="4044791" y="20669"/>
                  <a:pt x="4265200" y="0"/>
                </a:cubicBezTo>
                <a:close/>
              </a:path>
            </a:pathLst>
          </a:custGeom>
          <a:solidFill>
            <a:srgbClr val="1B6B6B"/>
          </a:solidFill>
          <a:ln w="9525" cap="flat">
            <a:noFill/>
            <a:prstDash val="solid"/>
            <a:miter/>
          </a:ln>
        </p:spPr>
        <p:txBody>
          <a:bodyPr rtlCol="0" anchor="ctr"/>
          <a:lstStyle/>
          <a:p>
            <a:endParaRPr lang="en-IN"/>
          </a:p>
        </p:txBody>
      </p:sp>
      <p:sp>
        <p:nvSpPr>
          <p:cNvPr id="8" name="TextBox 7">
            <a:extLst>
              <a:ext uri="{FF2B5EF4-FFF2-40B4-BE49-F238E27FC236}">
                <a16:creationId xmlns:a16="http://schemas.microsoft.com/office/drawing/2014/main" id="{8B9C78A0-A280-6E45-5B49-01EADEC1A37E}"/>
              </a:ext>
            </a:extLst>
          </p:cNvPr>
          <p:cNvSpPr txBox="1"/>
          <p:nvPr/>
        </p:nvSpPr>
        <p:spPr>
          <a:xfrm>
            <a:off x="244337" y="995065"/>
            <a:ext cx="11539624" cy="1323439"/>
          </a:xfrm>
          <a:prstGeom prst="rect">
            <a:avLst/>
          </a:prstGeom>
          <a:noFill/>
        </p:spPr>
        <p:txBody>
          <a:bodyPr wrap="square">
            <a:spAutoFit/>
          </a:bodyPr>
          <a:lstStyle/>
          <a:p>
            <a:pPr algn="ctr"/>
            <a:r>
              <a:rPr lang="en-IN" sz="4000" b="1" dirty="0">
                <a:solidFill>
                  <a:srgbClr val="1B6B6B"/>
                </a:solidFill>
                <a:latin typeface="Arial Black" panose="020B0A04020102020204" pitchFamily="34" charset="0"/>
                <a:cs typeface="Archivo" pitchFamily="2" charset="0"/>
              </a:rPr>
              <a:t>RECONCILIATION HOUSE </a:t>
            </a:r>
          </a:p>
          <a:p>
            <a:pPr algn="ctr"/>
            <a:r>
              <a:rPr lang="en-IN" sz="4000" b="1" dirty="0">
                <a:solidFill>
                  <a:srgbClr val="1B6B6B"/>
                </a:solidFill>
                <a:latin typeface="Arial Black" panose="020B0A04020102020204" pitchFamily="34" charset="0"/>
                <a:cs typeface="Archivo" pitchFamily="2" charset="0"/>
              </a:rPr>
              <a:t>WEALTH CREATION HUB</a:t>
            </a:r>
          </a:p>
        </p:txBody>
      </p:sp>
      <p:sp>
        <p:nvSpPr>
          <p:cNvPr id="13" name="Freeform: Shape 12">
            <a:extLst>
              <a:ext uri="{FF2B5EF4-FFF2-40B4-BE49-F238E27FC236}">
                <a16:creationId xmlns:a16="http://schemas.microsoft.com/office/drawing/2014/main" id="{040FCBF0-41E3-66DD-211E-206337552923}"/>
              </a:ext>
            </a:extLst>
          </p:cNvPr>
          <p:cNvSpPr/>
          <p:nvPr/>
        </p:nvSpPr>
        <p:spPr>
          <a:xfrm>
            <a:off x="0" y="-855384"/>
            <a:ext cx="6775325" cy="1674891"/>
          </a:xfrm>
          <a:custGeom>
            <a:avLst/>
            <a:gdLst>
              <a:gd name="connsiteX0" fmla="*/ 2936462 w 3199913"/>
              <a:gd name="connsiteY0" fmla="*/ 572929 h 791033"/>
              <a:gd name="connsiteX1" fmla="*/ 1289399 w 3199913"/>
              <a:gd name="connsiteY1" fmla="*/ 508254 h 791033"/>
              <a:gd name="connsiteX2" fmla="*/ 240602 w 3199913"/>
              <a:gd name="connsiteY2" fmla="*/ 572834 h 791033"/>
              <a:gd name="connsiteX3" fmla="*/ 0 w 3199913"/>
              <a:gd name="connsiteY3" fmla="*/ 508825 h 791033"/>
              <a:gd name="connsiteX4" fmla="*/ 0 w 3199913"/>
              <a:gd name="connsiteY4" fmla="*/ 29813 h 791033"/>
              <a:gd name="connsiteX5" fmla="*/ 29813 w 3199913"/>
              <a:gd name="connsiteY5" fmla="*/ 0 h 791033"/>
              <a:gd name="connsiteX6" fmla="*/ 3195733 w 3199913"/>
              <a:gd name="connsiteY6" fmla="*/ 0 h 791033"/>
              <a:gd name="connsiteX7" fmla="*/ 2936462 w 3199913"/>
              <a:gd name="connsiteY7" fmla="*/ 572929 h 79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9913" h="791033">
                <a:moveTo>
                  <a:pt x="2936462" y="572929"/>
                </a:moveTo>
                <a:cubicBezTo>
                  <a:pt x="2530602" y="990695"/>
                  <a:pt x="1777841" y="716566"/>
                  <a:pt x="1289399" y="508254"/>
                </a:cubicBezTo>
                <a:cubicBezTo>
                  <a:pt x="800957" y="299847"/>
                  <a:pt x="757809" y="579977"/>
                  <a:pt x="240602" y="572834"/>
                </a:cubicBezTo>
                <a:cubicBezTo>
                  <a:pt x="138684" y="571405"/>
                  <a:pt x="60293" y="547211"/>
                  <a:pt x="0" y="508825"/>
                </a:cubicBezTo>
                <a:lnTo>
                  <a:pt x="0" y="29813"/>
                </a:lnTo>
                <a:cubicBezTo>
                  <a:pt x="0" y="13335"/>
                  <a:pt x="13335" y="0"/>
                  <a:pt x="29813" y="0"/>
                </a:cubicBezTo>
                <a:lnTo>
                  <a:pt x="3195733" y="0"/>
                </a:lnTo>
                <a:cubicBezTo>
                  <a:pt x="3214878" y="132969"/>
                  <a:pt x="3174873" y="327565"/>
                  <a:pt x="2936462" y="572929"/>
                </a:cubicBezTo>
                <a:close/>
              </a:path>
            </a:pathLst>
          </a:custGeom>
          <a:solidFill>
            <a:srgbClr val="1B6B6B"/>
          </a:solidFill>
          <a:ln w="9525" cap="flat">
            <a:noFill/>
            <a:prstDash val="solid"/>
            <a:miter/>
          </a:ln>
        </p:spPr>
        <p:txBody>
          <a:bodyPr rtlCol="0" anchor="ctr"/>
          <a:lstStyle/>
          <a:p>
            <a:endParaRPr lang="en-IN"/>
          </a:p>
        </p:txBody>
      </p:sp>
      <p:sp>
        <p:nvSpPr>
          <p:cNvPr id="2" name="TextBox 1">
            <a:extLst>
              <a:ext uri="{FF2B5EF4-FFF2-40B4-BE49-F238E27FC236}">
                <a16:creationId xmlns:a16="http://schemas.microsoft.com/office/drawing/2014/main" id="{58DD8A96-5AFC-1C43-1720-E840CDB32CB3}"/>
              </a:ext>
            </a:extLst>
          </p:cNvPr>
          <p:cNvSpPr txBox="1"/>
          <p:nvPr/>
        </p:nvSpPr>
        <p:spPr>
          <a:xfrm>
            <a:off x="947347" y="3418722"/>
            <a:ext cx="9779650" cy="1200329"/>
          </a:xfrm>
          <a:prstGeom prst="rect">
            <a:avLst/>
          </a:prstGeom>
          <a:noFill/>
        </p:spPr>
        <p:txBody>
          <a:bodyPr wrap="square">
            <a:spAutoFit/>
          </a:bodyPr>
          <a:lstStyle/>
          <a:p>
            <a:pPr algn="ctr"/>
            <a:r>
              <a:rPr lang="en-IN" sz="3600" b="1" dirty="0">
                <a:solidFill>
                  <a:srgbClr val="1B6B6B"/>
                </a:solidFill>
                <a:latin typeface="Times New Roman" panose="02020603050405020304" pitchFamily="18" charset="0"/>
                <a:cs typeface="Times New Roman" panose="02020603050405020304" pitchFamily="18" charset="0"/>
              </a:rPr>
              <a:t>AMAZON BEST SELLING BOOKS ANALYSIS </a:t>
            </a:r>
          </a:p>
        </p:txBody>
      </p:sp>
      <p:sp>
        <p:nvSpPr>
          <p:cNvPr id="3" name="TextBox 2">
            <a:extLst>
              <a:ext uri="{FF2B5EF4-FFF2-40B4-BE49-F238E27FC236}">
                <a16:creationId xmlns:a16="http://schemas.microsoft.com/office/drawing/2014/main" id="{6C17D330-74AC-7050-0D09-A2D87845DCE8}"/>
              </a:ext>
            </a:extLst>
          </p:cNvPr>
          <p:cNvSpPr txBox="1"/>
          <p:nvPr/>
        </p:nvSpPr>
        <p:spPr>
          <a:xfrm>
            <a:off x="8562426" y="5948137"/>
            <a:ext cx="3428007" cy="600164"/>
          </a:xfrm>
          <a:prstGeom prst="rect">
            <a:avLst/>
          </a:prstGeom>
          <a:noFill/>
        </p:spPr>
        <p:txBody>
          <a:bodyPr wrap="square">
            <a:spAutoFit/>
          </a:bodyPr>
          <a:lstStyle/>
          <a:p>
            <a:pPr algn="ctr"/>
            <a:r>
              <a:rPr lang="en-IN" sz="3300" b="1" dirty="0">
                <a:solidFill>
                  <a:schemeClr val="bg1"/>
                </a:solidFill>
                <a:latin typeface="Agency FB" panose="020B0503020202020204" pitchFamily="34" charset="0"/>
                <a:cs typeface="Archivo" pitchFamily="2" charset="0"/>
              </a:rPr>
              <a:t>BABATUNDE AYEDOJU</a:t>
            </a:r>
          </a:p>
        </p:txBody>
      </p:sp>
    </p:spTree>
    <p:extLst>
      <p:ext uri="{BB962C8B-B14F-4D97-AF65-F5344CB8AC3E}">
        <p14:creationId xmlns:p14="http://schemas.microsoft.com/office/powerpoint/2010/main" val="3029441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6B6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8CA8B7-CD7D-A428-FCCC-4C904EC9FC7A}"/>
              </a:ext>
            </a:extLst>
          </p:cNvPr>
          <p:cNvSpPr txBox="1"/>
          <p:nvPr/>
        </p:nvSpPr>
        <p:spPr>
          <a:xfrm>
            <a:off x="2577723" y="76934"/>
            <a:ext cx="7036554" cy="769441"/>
          </a:xfrm>
          <a:prstGeom prst="rect">
            <a:avLst/>
          </a:prstGeom>
          <a:noFill/>
        </p:spPr>
        <p:txBody>
          <a:bodyPr wrap="square">
            <a:spAutoFit/>
          </a:bodyPr>
          <a:lstStyle/>
          <a:p>
            <a:pPr algn="ctr"/>
            <a:r>
              <a:rPr lang="en-IN" sz="4400" b="1" dirty="0">
                <a:solidFill>
                  <a:schemeClr val="bg1"/>
                </a:solidFill>
                <a:latin typeface="Arial Black" panose="020B0A04020102020204" pitchFamily="34" charset="0"/>
                <a:cs typeface="Archivo" pitchFamily="2" charset="0"/>
              </a:rPr>
              <a:t>INTRODUCTION</a:t>
            </a:r>
          </a:p>
        </p:txBody>
      </p:sp>
      <p:sp>
        <p:nvSpPr>
          <p:cNvPr id="3" name="Rectangle: Rounded Corners 2">
            <a:extLst>
              <a:ext uri="{FF2B5EF4-FFF2-40B4-BE49-F238E27FC236}">
                <a16:creationId xmlns:a16="http://schemas.microsoft.com/office/drawing/2014/main" id="{8D0553DE-5CDC-4121-AAC3-3942A87BBFB7}"/>
              </a:ext>
            </a:extLst>
          </p:cNvPr>
          <p:cNvSpPr/>
          <p:nvPr/>
        </p:nvSpPr>
        <p:spPr>
          <a:xfrm>
            <a:off x="250723" y="1002890"/>
            <a:ext cx="11710220" cy="558962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Ø"/>
            </a:pPr>
            <a:r>
              <a:rPr lang="en-US" sz="2800" b="1" dirty="0">
                <a:solidFill>
                  <a:srgbClr val="1B6B6B"/>
                </a:solidFill>
                <a:latin typeface="Times New Roman" panose="02020603050405020304" pitchFamily="18" charset="0"/>
                <a:ea typeface="Lato" panose="020F0502020204030203" pitchFamily="34" charset="0"/>
                <a:cs typeface="Times New Roman" panose="02020603050405020304" pitchFamily="18" charset="0"/>
              </a:rPr>
              <a:t> The world of literature is a dynamic one full of changes in patterns that are informed by several factors that include but are not limited to readers’ interest and cultural trends or societal value systems. This project “Amazon Best Selling Books Analysis” investigates selected books published by Amazon over a period of ten years (2009 – 2019), putting into consideration the authors, prices, reviews and user ratings.</a:t>
            </a:r>
          </a:p>
          <a:p>
            <a:pPr marL="342900" indent="-342900" algn="just">
              <a:buFont typeface="Wingdings" panose="05000000000000000000" pitchFamily="2" charset="2"/>
              <a:buChar char="Ø"/>
            </a:pPr>
            <a:r>
              <a:rPr lang="en-US" sz="2800" b="1" dirty="0">
                <a:solidFill>
                  <a:srgbClr val="1B6B6B"/>
                </a:solidFill>
                <a:latin typeface="Times New Roman" panose="02020603050405020304" pitchFamily="18" charset="0"/>
                <a:ea typeface="Lato" panose="020F0502020204030203" pitchFamily="34" charset="0"/>
                <a:cs typeface="Times New Roman" panose="02020603050405020304" pitchFamily="18" charset="0"/>
              </a:rPr>
              <a:t>At the end, the result of the analysis helps to discover the highly rated books based on the way users rate them and the reviews they have generated.</a:t>
            </a:r>
          </a:p>
          <a:p>
            <a:pPr marL="342900" indent="-342900" algn="just">
              <a:buFont typeface="Wingdings" panose="05000000000000000000" pitchFamily="2" charset="2"/>
              <a:buChar char="Ø"/>
            </a:pPr>
            <a:r>
              <a:rPr lang="en-US" sz="2800" b="1" dirty="0">
                <a:solidFill>
                  <a:srgbClr val="1B6B6B"/>
                </a:solidFill>
                <a:latin typeface="Times New Roman" panose="02020603050405020304" pitchFamily="18" charset="0"/>
                <a:ea typeface="Lato" panose="020F0502020204030203" pitchFamily="34" charset="0"/>
                <a:cs typeface="Times New Roman" panose="02020603050405020304" pitchFamily="18" charset="0"/>
              </a:rPr>
              <a:t>In a nutshell, the Analysis helps to understand the performance of each book and the author.</a:t>
            </a:r>
          </a:p>
          <a:p>
            <a:pPr algn="ctr"/>
            <a:endParaRPr lang="en-US" sz="2800" dirty="0">
              <a:solidFill>
                <a:srgbClr val="1B6B6B"/>
              </a:solidFill>
            </a:endParaRPr>
          </a:p>
        </p:txBody>
      </p:sp>
    </p:spTree>
    <p:extLst>
      <p:ext uri="{BB962C8B-B14F-4D97-AF65-F5344CB8AC3E}">
        <p14:creationId xmlns:p14="http://schemas.microsoft.com/office/powerpoint/2010/main" val="2514543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6B6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29E702-7C74-7C55-C758-E53866ADFF71}"/>
              </a:ext>
            </a:extLst>
          </p:cNvPr>
          <p:cNvSpPr txBox="1"/>
          <p:nvPr/>
        </p:nvSpPr>
        <p:spPr>
          <a:xfrm>
            <a:off x="2268009" y="32684"/>
            <a:ext cx="7036554" cy="769441"/>
          </a:xfrm>
          <a:prstGeom prst="rect">
            <a:avLst/>
          </a:prstGeom>
          <a:noFill/>
        </p:spPr>
        <p:txBody>
          <a:bodyPr wrap="square">
            <a:spAutoFit/>
          </a:bodyPr>
          <a:lstStyle/>
          <a:p>
            <a:pPr algn="ctr"/>
            <a:r>
              <a:rPr lang="en-IN" sz="4400" b="1" dirty="0">
                <a:solidFill>
                  <a:schemeClr val="bg1"/>
                </a:solidFill>
                <a:latin typeface="Lato" panose="020F0502020204030203" pitchFamily="34" charset="0"/>
                <a:cs typeface="Archivo" pitchFamily="2" charset="0"/>
              </a:rPr>
              <a:t>RAW DATA</a:t>
            </a:r>
          </a:p>
        </p:txBody>
      </p:sp>
      <p:sp>
        <p:nvSpPr>
          <p:cNvPr id="2" name="TextBox 1">
            <a:extLst>
              <a:ext uri="{FF2B5EF4-FFF2-40B4-BE49-F238E27FC236}">
                <a16:creationId xmlns:a16="http://schemas.microsoft.com/office/drawing/2014/main" id="{A4CA5DC7-754A-4C83-99E0-4A921C2AF4B5}"/>
              </a:ext>
            </a:extLst>
          </p:cNvPr>
          <p:cNvSpPr txBox="1"/>
          <p:nvPr/>
        </p:nvSpPr>
        <p:spPr>
          <a:xfrm>
            <a:off x="766917" y="752174"/>
            <a:ext cx="8847360" cy="369332"/>
          </a:xfrm>
          <a:prstGeom prst="rect">
            <a:avLst/>
          </a:prstGeom>
          <a:noFill/>
        </p:spPr>
        <p:txBody>
          <a:bodyPr wrap="square" rtlCol="0">
            <a:spAutoFit/>
          </a:bodyPr>
          <a:lstStyle/>
          <a:p>
            <a:r>
              <a:rPr lang="en-US" b="1" dirty="0">
                <a:solidFill>
                  <a:schemeClr val="bg1"/>
                </a:solidFill>
              </a:rPr>
              <a:t>The raw data was obtained from Kaggle.com the way it appears below:</a:t>
            </a:r>
          </a:p>
        </p:txBody>
      </p:sp>
      <p:pic>
        <p:nvPicPr>
          <p:cNvPr id="3" name="Picture 2">
            <a:extLst>
              <a:ext uri="{FF2B5EF4-FFF2-40B4-BE49-F238E27FC236}">
                <a16:creationId xmlns:a16="http://schemas.microsoft.com/office/drawing/2014/main" id="{95E0C84E-EDBA-3FF5-648D-F6331710F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29" y="1312606"/>
            <a:ext cx="10810568" cy="5450704"/>
          </a:xfrm>
          <a:prstGeom prst="rect">
            <a:avLst/>
          </a:prstGeom>
        </p:spPr>
      </p:pic>
    </p:spTree>
    <p:extLst>
      <p:ext uri="{BB962C8B-B14F-4D97-AF65-F5344CB8AC3E}">
        <p14:creationId xmlns:p14="http://schemas.microsoft.com/office/powerpoint/2010/main" val="828408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6B6B"/>
        </a:solidFill>
        <a:effectLst/>
      </p:bgPr>
    </p:bg>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0F0AA47B-F37B-DC00-78E8-384BBA2A9032}"/>
              </a:ext>
            </a:extLst>
          </p:cNvPr>
          <p:cNvSpPr txBox="1"/>
          <p:nvPr/>
        </p:nvSpPr>
        <p:spPr>
          <a:xfrm>
            <a:off x="2577723" y="76933"/>
            <a:ext cx="7036554" cy="769441"/>
          </a:xfrm>
          <a:prstGeom prst="rect">
            <a:avLst/>
          </a:prstGeom>
          <a:noFill/>
        </p:spPr>
        <p:txBody>
          <a:bodyPr wrap="square">
            <a:spAutoFit/>
          </a:bodyPr>
          <a:lstStyle/>
          <a:p>
            <a:pPr algn="ctr"/>
            <a:r>
              <a:rPr lang="en-IN" sz="4400" b="1" dirty="0">
                <a:solidFill>
                  <a:schemeClr val="bg1"/>
                </a:solidFill>
                <a:latin typeface="Lato" panose="020F0502020204030203" pitchFamily="34" charset="0"/>
                <a:cs typeface="Archivo" pitchFamily="2" charset="0"/>
              </a:rPr>
              <a:t>RAW DATA</a:t>
            </a:r>
          </a:p>
        </p:txBody>
      </p:sp>
      <p:sp>
        <p:nvSpPr>
          <p:cNvPr id="3" name="TextBox 2">
            <a:extLst>
              <a:ext uri="{FF2B5EF4-FFF2-40B4-BE49-F238E27FC236}">
                <a16:creationId xmlns:a16="http://schemas.microsoft.com/office/drawing/2014/main" id="{CC36971A-2AAC-C4E1-781B-5283D18DCB24}"/>
              </a:ext>
            </a:extLst>
          </p:cNvPr>
          <p:cNvSpPr txBox="1"/>
          <p:nvPr/>
        </p:nvSpPr>
        <p:spPr>
          <a:xfrm>
            <a:off x="2538395" y="671783"/>
            <a:ext cx="7036554" cy="369332"/>
          </a:xfrm>
          <a:prstGeom prst="rect">
            <a:avLst/>
          </a:prstGeom>
          <a:noFill/>
        </p:spPr>
        <p:txBody>
          <a:bodyPr wrap="square">
            <a:spAutoFit/>
          </a:bodyPr>
          <a:lstStyle/>
          <a:p>
            <a:pPr algn="just"/>
            <a:r>
              <a:rPr lang="en-IN" b="1" dirty="0">
                <a:solidFill>
                  <a:schemeClr val="bg1"/>
                </a:solidFill>
                <a:latin typeface="Lato" panose="020F0502020204030203" pitchFamily="34" charset="0"/>
                <a:cs typeface="Archivo" pitchFamily="2" charset="0"/>
              </a:rPr>
              <a:t>Continuation:</a:t>
            </a:r>
          </a:p>
        </p:txBody>
      </p:sp>
      <p:pic>
        <p:nvPicPr>
          <p:cNvPr id="5" name="Picture 4">
            <a:extLst>
              <a:ext uri="{FF2B5EF4-FFF2-40B4-BE49-F238E27FC236}">
                <a16:creationId xmlns:a16="http://schemas.microsoft.com/office/drawing/2014/main" id="{F9918A62-C62A-9857-53C4-85FF6C9AD0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71" y="1041115"/>
            <a:ext cx="11868416" cy="5739952"/>
          </a:xfrm>
          <a:prstGeom prst="rect">
            <a:avLst/>
          </a:prstGeom>
        </p:spPr>
      </p:pic>
    </p:spTree>
    <p:extLst>
      <p:ext uri="{BB962C8B-B14F-4D97-AF65-F5344CB8AC3E}">
        <p14:creationId xmlns:p14="http://schemas.microsoft.com/office/powerpoint/2010/main" val="104916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6B6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683EE4-920D-5D68-34B7-2238AC288CD6}"/>
              </a:ext>
            </a:extLst>
          </p:cNvPr>
          <p:cNvSpPr txBox="1"/>
          <p:nvPr/>
        </p:nvSpPr>
        <p:spPr>
          <a:xfrm>
            <a:off x="262228" y="-11556"/>
            <a:ext cx="7036554" cy="369332"/>
          </a:xfrm>
          <a:prstGeom prst="rect">
            <a:avLst/>
          </a:prstGeom>
          <a:noFill/>
        </p:spPr>
        <p:txBody>
          <a:bodyPr wrap="square">
            <a:spAutoFit/>
          </a:bodyPr>
          <a:lstStyle/>
          <a:p>
            <a:pPr algn="just"/>
            <a:r>
              <a:rPr lang="en-IN" b="1" dirty="0">
                <a:solidFill>
                  <a:schemeClr val="bg1"/>
                </a:solidFill>
                <a:latin typeface="Lato" panose="020F0502020204030203" pitchFamily="34" charset="0"/>
                <a:cs typeface="Archivo" pitchFamily="2" charset="0"/>
              </a:rPr>
              <a:t>The data was cleaned using power query: </a:t>
            </a:r>
          </a:p>
        </p:txBody>
      </p:sp>
      <p:pic>
        <p:nvPicPr>
          <p:cNvPr id="3" name="Picture 2">
            <a:extLst>
              <a:ext uri="{FF2B5EF4-FFF2-40B4-BE49-F238E27FC236}">
                <a16:creationId xmlns:a16="http://schemas.microsoft.com/office/drawing/2014/main" id="{32226FC6-C61E-61A7-A43C-B2754777AE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228" y="486697"/>
            <a:ext cx="11713462" cy="6179573"/>
          </a:xfrm>
          <a:prstGeom prst="rect">
            <a:avLst/>
          </a:prstGeom>
        </p:spPr>
      </p:pic>
    </p:spTree>
    <p:extLst>
      <p:ext uri="{BB962C8B-B14F-4D97-AF65-F5344CB8AC3E}">
        <p14:creationId xmlns:p14="http://schemas.microsoft.com/office/powerpoint/2010/main" val="1348734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6B6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A1A6FB-77C4-7CF8-6357-D432C88DC05E}"/>
              </a:ext>
            </a:extLst>
          </p:cNvPr>
          <p:cNvSpPr txBox="1"/>
          <p:nvPr/>
        </p:nvSpPr>
        <p:spPr>
          <a:xfrm>
            <a:off x="-29323" y="49752"/>
            <a:ext cx="8770056" cy="369332"/>
          </a:xfrm>
          <a:prstGeom prst="rect">
            <a:avLst/>
          </a:prstGeom>
          <a:noFill/>
        </p:spPr>
        <p:txBody>
          <a:bodyPr wrap="square">
            <a:spAutoFit/>
          </a:bodyPr>
          <a:lstStyle/>
          <a:p>
            <a:pPr algn="just"/>
            <a:r>
              <a:rPr lang="en-US" b="1" dirty="0">
                <a:solidFill>
                  <a:schemeClr val="bg1"/>
                </a:solidFill>
                <a:latin typeface="Lato" panose="020F0502020204030203" pitchFamily="34" charset="0"/>
                <a:cs typeface="Archivo" pitchFamily="2" charset="0"/>
              </a:rPr>
              <a:t>T</a:t>
            </a:r>
            <a:r>
              <a:rPr lang="en-IN" b="1" dirty="0">
                <a:solidFill>
                  <a:schemeClr val="bg1"/>
                </a:solidFill>
                <a:latin typeface="Lato" panose="020F0502020204030203" pitchFamily="34" charset="0"/>
                <a:cs typeface="Archivo" pitchFamily="2" charset="0"/>
              </a:rPr>
              <a:t>hereafter, it was imported to a Microsoft Excel sheet:</a:t>
            </a:r>
          </a:p>
        </p:txBody>
      </p:sp>
      <p:pic>
        <p:nvPicPr>
          <p:cNvPr id="2" name="Picture 1">
            <a:extLst>
              <a:ext uri="{FF2B5EF4-FFF2-40B4-BE49-F238E27FC236}">
                <a16:creationId xmlns:a16="http://schemas.microsoft.com/office/drawing/2014/main" id="{44E288D1-A113-09F8-5A72-545E0D460632}"/>
              </a:ext>
            </a:extLst>
          </p:cNvPr>
          <p:cNvPicPr>
            <a:picLocks noChangeAspect="1"/>
          </p:cNvPicPr>
          <p:nvPr/>
        </p:nvPicPr>
        <p:blipFill>
          <a:blip r:embed="rId2"/>
          <a:stretch>
            <a:fillRect/>
          </a:stretch>
        </p:blipFill>
        <p:spPr>
          <a:xfrm>
            <a:off x="162233" y="419084"/>
            <a:ext cx="11739716" cy="6275762"/>
          </a:xfrm>
          <a:prstGeom prst="rect">
            <a:avLst/>
          </a:prstGeom>
        </p:spPr>
      </p:pic>
    </p:spTree>
    <p:extLst>
      <p:ext uri="{BB962C8B-B14F-4D97-AF65-F5344CB8AC3E}">
        <p14:creationId xmlns:p14="http://schemas.microsoft.com/office/powerpoint/2010/main" val="2456600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D7A90-A037-C856-59AA-EF0975D2C4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658F9AC-F6C8-78EC-90FE-6B0A687A1EEC}"/>
              </a:ext>
            </a:extLst>
          </p:cNvPr>
          <p:cNvSpPr txBox="1"/>
          <p:nvPr/>
        </p:nvSpPr>
        <p:spPr>
          <a:xfrm>
            <a:off x="0" y="32690"/>
            <a:ext cx="12192000" cy="6781066"/>
          </a:xfrm>
          <a:prstGeom prst="rect">
            <a:avLst/>
          </a:prstGeom>
          <a:solidFill>
            <a:srgbClr val="1B6B6B"/>
          </a:solidFill>
        </p:spPr>
        <p:txBody>
          <a:bodyPr wrap="square">
            <a:spAutoFit/>
          </a:bodyPr>
          <a:lstStyle/>
          <a:p>
            <a:pPr algn="ctr"/>
            <a:endParaRPr lang="en-IN" sz="4400" b="1" dirty="0">
              <a:solidFill>
                <a:schemeClr val="bg1"/>
              </a:solidFill>
              <a:latin typeface="Arial Black" panose="020B0A04020102020204" pitchFamily="34" charset="0"/>
              <a:cs typeface="Archivo" pitchFamily="2" charset="0"/>
            </a:endParaRPr>
          </a:p>
        </p:txBody>
      </p:sp>
      <p:sp>
        <p:nvSpPr>
          <p:cNvPr id="3" name="Rectangle: Rounded Corners 2">
            <a:extLst>
              <a:ext uri="{FF2B5EF4-FFF2-40B4-BE49-F238E27FC236}">
                <a16:creationId xmlns:a16="http://schemas.microsoft.com/office/drawing/2014/main" id="{9B43E54D-3029-09EA-74F1-0350E49E3279}"/>
              </a:ext>
            </a:extLst>
          </p:cNvPr>
          <p:cNvSpPr/>
          <p:nvPr/>
        </p:nvSpPr>
        <p:spPr>
          <a:xfrm>
            <a:off x="870154" y="1189772"/>
            <a:ext cx="10176387" cy="408528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0" b="1" dirty="0">
                <a:solidFill>
                  <a:srgbClr val="1B6B6B"/>
                </a:solidFill>
                <a:latin typeface="Arial Black" panose="020B0A04020102020204" pitchFamily="34" charset="0"/>
                <a:ea typeface="Lato" panose="020F0502020204030203" pitchFamily="34" charset="0"/>
                <a:cs typeface="Lato" panose="020F0502020204030203" pitchFamily="34" charset="0"/>
              </a:rPr>
              <a:t>POWER BI</a:t>
            </a:r>
          </a:p>
        </p:txBody>
      </p:sp>
    </p:spTree>
    <p:extLst>
      <p:ext uri="{BB962C8B-B14F-4D97-AF65-F5344CB8AC3E}">
        <p14:creationId xmlns:p14="http://schemas.microsoft.com/office/powerpoint/2010/main" val="2552908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3FFE40-9ECB-D891-CABE-BB9848CEF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3" y="153023"/>
            <a:ext cx="11926529" cy="6701113"/>
          </a:xfrm>
          <a:prstGeom prst="rect">
            <a:avLst/>
          </a:prstGeom>
        </p:spPr>
      </p:pic>
    </p:spTree>
    <p:extLst>
      <p:ext uri="{BB962C8B-B14F-4D97-AF65-F5344CB8AC3E}">
        <p14:creationId xmlns:p14="http://schemas.microsoft.com/office/powerpoint/2010/main" val="2176209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21D86A-6BF3-8ED9-04C4-0E99AED203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484" y="129621"/>
            <a:ext cx="12044515" cy="6680562"/>
          </a:xfrm>
          <a:prstGeom prst="rect">
            <a:avLst/>
          </a:prstGeom>
        </p:spPr>
      </p:pic>
    </p:spTree>
    <p:extLst>
      <p:ext uri="{BB962C8B-B14F-4D97-AF65-F5344CB8AC3E}">
        <p14:creationId xmlns:p14="http://schemas.microsoft.com/office/powerpoint/2010/main" val="110454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41C39A-D105-F3B3-9223-1DFE4B152025}"/>
              </a:ext>
            </a:extLst>
          </p:cNvPr>
          <p:cNvPicPr>
            <a:picLocks noChangeAspect="1"/>
          </p:cNvPicPr>
          <p:nvPr/>
        </p:nvPicPr>
        <p:blipFill>
          <a:blip r:embed="rId2">
            <a:extLst>
              <a:ext uri="{28A0092B-C50C-407E-A947-70E740481C1C}">
                <a14:useLocalDpi xmlns:a14="http://schemas.microsoft.com/office/drawing/2010/main" val="0"/>
              </a:ext>
            </a:extLst>
          </a:blip>
          <a:srcRect t="9440"/>
          <a:stretch/>
        </p:blipFill>
        <p:spPr>
          <a:xfrm>
            <a:off x="2129743" y="1169042"/>
            <a:ext cx="7268900" cy="5370653"/>
          </a:xfrm>
          <a:prstGeom prst="rect">
            <a:avLst/>
          </a:prstGeom>
        </p:spPr>
      </p:pic>
      <p:sp>
        <p:nvSpPr>
          <p:cNvPr id="4" name="TextBox 3">
            <a:extLst>
              <a:ext uri="{FF2B5EF4-FFF2-40B4-BE49-F238E27FC236}">
                <a16:creationId xmlns:a16="http://schemas.microsoft.com/office/drawing/2014/main" id="{2D5FB543-2D4D-D76B-4A41-F81B689D1341}"/>
              </a:ext>
            </a:extLst>
          </p:cNvPr>
          <p:cNvSpPr txBox="1"/>
          <p:nvPr/>
        </p:nvSpPr>
        <p:spPr>
          <a:xfrm>
            <a:off x="1713053" y="254643"/>
            <a:ext cx="9560689" cy="707886"/>
          </a:xfrm>
          <a:prstGeom prst="rect">
            <a:avLst/>
          </a:prstGeom>
          <a:noFill/>
        </p:spPr>
        <p:txBody>
          <a:bodyPr wrap="square" rtlCol="0">
            <a:spAutoFit/>
          </a:bodyPr>
          <a:lstStyle/>
          <a:p>
            <a:pPr algn="ctr"/>
            <a:r>
              <a:rPr lang="en-US" sz="4000" dirty="0">
                <a:latin typeface="Arial Black" panose="020B0A04020102020204" pitchFamily="34" charset="0"/>
              </a:rPr>
              <a:t>SUM OF REVIEWS BY AUTHORS</a:t>
            </a:r>
          </a:p>
        </p:txBody>
      </p:sp>
    </p:spTree>
    <p:extLst>
      <p:ext uri="{BB962C8B-B14F-4D97-AF65-F5344CB8AC3E}">
        <p14:creationId xmlns:p14="http://schemas.microsoft.com/office/powerpoint/2010/main" val="1989729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F13E7D-71D4-3CFA-E871-2969F8209B26}"/>
              </a:ext>
            </a:extLst>
          </p:cNvPr>
          <p:cNvPicPr>
            <a:picLocks noChangeAspect="1"/>
          </p:cNvPicPr>
          <p:nvPr/>
        </p:nvPicPr>
        <p:blipFill>
          <a:blip r:embed="rId2">
            <a:extLst>
              <a:ext uri="{28A0092B-C50C-407E-A947-70E740481C1C}">
                <a14:useLocalDpi xmlns:a14="http://schemas.microsoft.com/office/drawing/2010/main" val="0"/>
              </a:ext>
            </a:extLst>
          </a:blip>
          <a:srcRect t="4174"/>
          <a:stretch>
            <a:fillRect/>
          </a:stretch>
        </p:blipFill>
        <p:spPr>
          <a:xfrm>
            <a:off x="1194619" y="1207295"/>
            <a:ext cx="9020149" cy="5293427"/>
          </a:xfrm>
          <a:prstGeom prst="rect">
            <a:avLst/>
          </a:prstGeom>
        </p:spPr>
      </p:pic>
      <p:sp>
        <p:nvSpPr>
          <p:cNvPr id="5" name="TextBox 4">
            <a:extLst>
              <a:ext uri="{FF2B5EF4-FFF2-40B4-BE49-F238E27FC236}">
                <a16:creationId xmlns:a16="http://schemas.microsoft.com/office/drawing/2014/main" id="{CC53841C-0DA1-27EF-99EB-E75F4F7DCD93}"/>
              </a:ext>
            </a:extLst>
          </p:cNvPr>
          <p:cNvSpPr txBox="1"/>
          <p:nvPr/>
        </p:nvSpPr>
        <p:spPr>
          <a:xfrm>
            <a:off x="1932039" y="221226"/>
            <a:ext cx="7654413" cy="769441"/>
          </a:xfrm>
          <a:prstGeom prst="rect">
            <a:avLst/>
          </a:prstGeom>
          <a:noFill/>
        </p:spPr>
        <p:txBody>
          <a:bodyPr wrap="square" rtlCol="0">
            <a:spAutoFit/>
          </a:bodyPr>
          <a:lstStyle/>
          <a:p>
            <a:pPr algn="ctr"/>
            <a:r>
              <a:rPr lang="en-US" sz="4400" dirty="0">
                <a:latin typeface="Arial Black" panose="020B0A04020102020204" pitchFamily="34" charset="0"/>
              </a:rPr>
              <a:t>Reviews by Names</a:t>
            </a:r>
          </a:p>
        </p:txBody>
      </p:sp>
    </p:spTree>
    <p:extLst>
      <p:ext uri="{BB962C8B-B14F-4D97-AF65-F5344CB8AC3E}">
        <p14:creationId xmlns:p14="http://schemas.microsoft.com/office/powerpoint/2010/main" val="797631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95E6AA07-B4A6-547F-7E9C-E5516C1FD9A8}"/>
              </a:ext>
            </a:extLst>
          </p:cNvPr>
          <p:cNvPicPr>
            <a:picLocks noChangeAspect="1"/>
          </p:cNvPicPr>
          <p:nvPr/>
        </p:nvPicPr>
        <p:blipFill>
          <a:blip r:embed="rId2">
            <a:extLst>
              <a:ext uri="{28A0092B-C50C-407E-A947-70E740481C1C}">
                <a14:useLocalDpi xmlns:a14="http://schemas.microsoft.com/office/drawing/2010/main" val="0"/>
              </a:ext>
            </a:extLst>
          </a:blip>
          <a:srcRect l="10646" t="18352" r="4798" b="1"/>
          <a:stretch>
            <a:fillRect/>
          </a:stretch>
        </p:blipFill>
        <p:spPr>
          <a:xfrm>
            <a:off x="825910" y="1224116"/>
            <a:ext cx="10863465" cy="4778477"/>
          </a:xfrm>
          <a:prstGeom prst="rect">
            <a:avLst/>
          </a:prstGeom>
        </p:spPr>
      </p:pic>
      <p:sp>
        <p:nvSpPr>
          <p:cNvPr id="5" name="TextBox 4">
            <a:extLst>
              <a:ext uri="{FF2B5EF4-FFF2-40B4-BE49-F238E27FC236}">
                <a16:creationId xmlns:a16="http://schemas.microsoft.com/office/drawing/2014/main" id="{3EEAEB3C-328B-57E4-A3C1-821502C95AEA}"/>
              </a:ext>
            </a:extLst>
          </p:cNvPr>
          <p:cNvSpPr txBox="1"/>
          <p:nvPr/>
        </p:nvSpPr>
        <p:spPr>
          <a:xfrm>
            <a:off x="1076632" y="309723"/>
            <a:ext cx="9276735" cy="769441"/>
          </a:xfrm>
          <a:prstGeom prst="rect">
            <a:avLst/>
          </a:prstGeom>
          <a:noFill/>
        </p:spPr>
        <p:txBody>
          <a:bodyPr wrap="square" rtlCol="0">
            <a:spAutoFit/>
          </a:bodyPr>
          <a:lstStyle/>
          <a:p>
            <a:r>
              <a:rPr lang="en-US" sz="4400" dirty="0">
                <a:latin typeface="Arial Black" panose="020B0A04020102020204" pitchFamily="34" charset="0"/>
              </a:rPr>
              <a:t>USER RATING BY AUTHOR</a:t>
            </a:r>
          </a:p>
        </p:txBody>
      </p:sp>
    </p:spTree>
    <p:extLst>
      <p:ext uri="{BB962C8B-B14F-4D97-AF65-F5344CB8AC3E}">
        <p14:creationId xmlns:p14="http://schemas.microsoft.com/office/powerpoint/2010/main" val="444865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1CB4D4-8191-CDED-3C4E-4EA486058BD6}"/>
              </a:ext>
            </a:extLst>
          </p:cNvPr>
          <p:cNvSpPr/>
          <p:nvPr/>
        </p:nvSpPr>
        <p:spPr>
          <a:xfrm>
            <a:off x="0" y="1"/>
            <a:ext cx="12192000" cy="6858000"/>
          </a:xfrm>
          <a:prstGeom prst="rect">
            <a:avLst/>
          </a:prstGeom>
          <a:solidFill>
            <a:srgbClr val="1B6B6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23AD379-F6D6-288D-2C88-AC3BF6938098}"/>
              </a:ext>
            </a:extLst>
          </p:cNvPr>
          <p:cNvSpPr txBox="1"/>
          <p:nvPr/>
        </p:nvSpPr>
        <p:spPr>
          <a:xfrm>
            <a:off x="1976284" y="88499"/>
            <a:ext cx="7846142" cy="769441"/>
          </a:xfrm>
          <a:prstGeom prst="rect">
            <a:avLst/>
          </a:prstGeom>
          <a:noFill/>
        </p:spPr>
        <p:txBody>
          <a:bodyPr wrap="square" rtlCol="0">
            <a:spAutoFit/>
          </a:bodyPr>
          <a:lstStyle/>
          <a:p>
            <a:pPr algn="ctr"/>
            <a:r>
              <a:rPr lang="en-US" sz="4400" dirty="0">
                <a:solidFill>
                  <a:schemeClr val="bg1"/>
                </a:solidFill>
                <a:latin typeface="Arial Black" panose="020B0A04020102020204" pitchFamily="34" charset="0"/>
              </a:rPr>
              <a:t>OBSERVATIONS</a:t>
            </a:r>
          </a:p>
        </p:txBody>
      </p:sp>
      <p:sp>
        <p:nvSpPr>
          <p:cNvPr id="4" name="TextBox 3">
            <a:extLst>
              <a:ext uri="{FF2B5EF4-FFF2-40B4-BE49-F238E27FC236}">
                <a16:creationId xmlns:a16="http://schemas.microsoft.com/office/drawing/2014/main" id="{8B51CED7-0FAE-3B06-F468-A7D62295C555}"/>
              </a:ext>
            </a:extLst>
          </p:cNvPr>
          <p:cNvSpPr txBox="1"/>
          <p:nvPr/>
        </p:nvSpPr>
        <p:spPr>
          <a:xfrm>
            <a:off x="941438" y="1041815"/>
            <a:ext cx="10309123" cy="5632311"/>
          </a:xfrm>
          <a:prstGeom prst="rect">
            <a:avLst/>
          </a:prstGeom>
          <a:noFill/>
        </p:spPr>
        <p:txBody>
          <a:bodyPr wrap="square" rtlCol="0">
            <a:spAutoFit/>
          </a:bodyPr>
          <a:lstStyle/>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Non-fiction books had more sales than fiction books.</a:t>
            </a:r>
          </a:p>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Non-fiction books had a higher price than fiction books.</a:t>
            </a:r>
          </a:p>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Non-fiction books had a larger sum of reviews than fiction books.</a:t>
            </a:r>
          </a:p>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Rick Riordan had the highest user rating of 47.7, while Harper Lee had the lowest user rating with 3.6.</a:t>
            </a:r>
          </a:p>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Diagnostic and Statistical Manual of Mental Disorders, 5</a:t>
            </a:r>
            <a:r>
              <a:rPr lang="en-US" sz="3000" baseline="30000" dirty="0">
                <a:solidFill>
                  <a:schemeClr val="bg1"/>
                </a:solidFill>
                <a:latin typeface="Times New Roman" panose="02020603050405020304" pitchFamily="18" charset="0"/>
                <a:cs typeface="Times New Roman" panose="02020603050405020304" pitchFamily="18" charset="0"/>
              </a:rPr>
              <a:t>th</a:t>
            </a:r>
            <a:r>
              <a:rPr lang="en-US" sz="3000" dirty="0">
                <a:solidFill>
                  <a:schemeClr val="bg1"/>
                </a:solidFill>
                <a:latin typeface="Times New Roman" panose="02020603050405020304" pitchFamily="18" charset="0"/>
                <a:cs typeface="Times New Roman" panose="02020603050405020304" pitchFamily="18" charset="0"/>
              </a:rPr>
              <a:t> Edition; DSM-5, written by the American Psychiatric Association was sold for the highest price - $105, while Eat This Not That! Supermarket Survival Guide: The No-Diet Weight Loss Solution by David Zinczenko was sold for the lowest price of $1.</a:t>
            </a:r>
          </a:p>
        </p:txBody>
      </p:sp>
    </p:spTree>
    <p:extLst>
      <p:ext uri="{BB962C8B-B14F-4D97-AF65-F5344CB8AC3E}">
        <p14:creationId xmlns:p14="http://schemas.microsoft.com/office/powerpoint/2010/main" val="2500338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DC405EA-053A-E5ED-C28D-8AD77E6B92E3}"/>
              </a:ext>
            </a:extLst>
          </p:cNvPr>
          <p:cNvSpPr/>
          <p:nvPr/>
        </p:nvSpPr>
        <p:spPr>
          <a:xfrm>
            <a:off x="0" y="0"/>
            <a:ext cx="12192000" cy="6961239"/>
          </a:xfrm>
          <a:prstGeom prst="rect">
            <a:avLst/>
          </a:prstGeom>
          <a:solidFill>
            <a:srgbClr val="1B6B6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47C0DB2-A4D8-F4AD-87B6-A584FDE48A99}"/>
              </a:ext>
            </a:extLst>
          </p:cNvPr>
          <p:cNvSpPr/>
          <p:nvPr/>
        </p:nvSpPr>
        <p:spPr>
          <a:xfrm>
            <a:off x="0" y="1"/>
            <a:ext cx="12192000" cy="6858000"/>
          </a:xfrm>
          <a:prstGeom prst="rect">
            <a:avLst/>
          </a:prstGeom>
          <a:solidFill>
            <a:srgbClr val="1B6B6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5670EE3-F4AA-B680-368E-18E902EF5304}"/>
              </a:ext>
            </a:extLst>
          </p:cNvPr>
          <p:cNvSpPr txBox="1"/>
          <p:nvPr/>
        </p:nvSpPr>
        <p:spPr>
          <a:xfrm>
            <a:off x="3082413" y="648929"/>
            <a:ext cx="6533535" cy="1046440"/>
          </a:xfrm>
          <a:prstGeom prst="rect">
            <a:avLst/>
          </a:prstGeom>
          <a:noFill/>
        </p:spPr>
        <p:txBody>
          <a:bodyPr wrap="square" rtlCol="0">
            <a:spAutoFit/>
          </a:bodyPr>
          <a:lstStyle/>
          <a:p>
            <a:r>
              <a:rPr lang="en-US" sz="4400" dirty="0">
                <a:solidFill>
                  <a:schemeClr val="bg1"/>
                </a:solidFill>
                <a:latin typeface="Arial Black" panose="020B0A04020102020204" pitchFamily="34" charset="0"/>
              </a:rPr>
              <a:t>OBSERVATIONS</a:t>
            </a:r>
          </a:p>
          <a:p>
            <a:endParaRPr lang="en-US" dirty="0"/>
          </a:p>
        </p:txBody>
      </p:sp>
      <p:sp>
        <p:nvSpPr>
          <p:cNvPr id="7" name="TextBox 6">
            <a:extLst>
              <a:ext uri="{FF2B5EF4-FFF2-40B4-BE49-F238E27FC236}">
                <a16:creationId xmlns:a16="http://schemas.microsoft.com/office/drawing/2014/main" id="{8019F9B8-D6E4-FE92-9CF2-BFF38F9FF48B}"/>
              </a:ext>
            </a:extLst>
          </p:cNvPr>
          <p:cNvSpPr txBox="1"/>
          <p:nvPr/>
        </p:nvSpPr>
        <p:spPr>
          <a:xfrm>
            <a:off x="619432" y="1563329"/>
            <a:ext cx="11459496" cy="5170646"/>
          </a:xfrm>
          <a:prstGeom prst="rect">
            <a:avLst/>
          </a:prstGeom>
          <a:noFill/>
        </p:spPr>
        <p:txBody>
          <a:bodyPr wrap="square" rtlCol="0">
            <a:spAutoFit/>
          </a:bodyPr>
          <a:lstStyle/>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Where the Crawdads Sing by Delia Owens had the highest sum of reviews with 87,841, while Divine Soul Mind Body Healing and Transmission System: The Divine Way to Heal You…..by Zhi Gang Sha had the lowest with 37.</a:t>
            </a:r>
          </a:p>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E L James had the highest sum of reviews (130,746), while Zhi Gang Sha had the lowest sum of  reviews (</a:t>
            </a:r>
            <a:r>
              <a:rPr lang="en-US" sz="3000">
                <a:solidFill>
                  <a:schemeClr val="bg1"/>
                </a:solidFill>
                <a:latin typeface="Times New Roman" panose="02020603050405020304" pitchFamily="18" charset="0"/>
                <a:cs typeface="Times New Roman" panose="02020603050405020304" pitchFamily="18" charset="0"/>
              </a:rPr>
              <a:t>257).</a:t>
            </a:r>
            <a:endParaRPr lang="en-US" sz="3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Year 2019 had the highest average of user rating, while 2012 had the lowest.</a:t>
            </a:r>
          </a:p>
          <a:p>
            <a:pPr marL="285750" indent="-285750">
              <a:buFont typeface="Wingdings" panose="05000000000000000000" pitchFamily="2" charset="2"/>
              <a:buChar char="Ø"/>
            </a:pPr>
            <a:r>
              <a:rPr lang="en-US" sz="3000" dirty="0">
                <a:solidFill>
                  <a:schemeClr val="bg1"/>
                </a:solidFill>
                <a:latin typeface="Times New Roman" panose="02020603050405020304" pitchFamily="18" charset="0"/>
                <a:cs typeface="Times New Roman" panose="02020603050405020304" pitchFamily="18" charset="0"/>
              </a:rPr>
              <a:t>Year 2012 had the highest average of reviews, while 2009 had the lowest.</a:t>
            </a:r>
          </a:p>
          <a:p>
            <a:endParaRPr lang="en-US" sz="3000" dirty="0"/>
          </a:p>
        </p:txBody>
      </p:sp>
    </p:spTree>
    <p:extLst>
      <p:ext uri="{BB962C8B-B14F-4D97-AF65-F5344CB8AC3E}">
        <p14:creationId xmlns:p14="http://schemas.microsoft.com/office/powerpoint/2010/main" val="2337234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5DF3FC-4DAB-BF58-C482-DC8BF08EA425}"/>
              </a:ext>
            </a:extLst>
          </p:cNvPr>
          <p:cNvSpPr/>
          <p:nvPr/>
        </p:nvSpPr>
        <p:spPr>
          <a:xfrm>
            <a:off x="0" y="14749"/>
            <a:ext cx="12192000" cy="6828502"/>
          </a:xfrm>
          <a:prstGeom prst="rect">
            <a:avLst/>
          </a:prstGeom>
          <a:solidFill>
            <a:srgbClr val="1B6B6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273082B-FE14-17F6-1A17-3D8EB79ACE74}"/>
              </a:ext>
            </a:extLst>
          </p:cNvPr>
          <p:cNvSpPr txBox="1"/>
          <p:nvPr/>
        </p:nvSpPr>
        <p:spPr>
          <a:xfrm>
            <a:off x="1519084" y="14749"/>
            <a:ext cx="8480322" cy="769441"/>
          </a:xfrm>
          <a:prstGeom prst="rect">
            <a:avLst/>
          </a:prstGeom>
          <a:noFill/>
        </p:spPr>
        <p:txBody>
          <a:bodyPr wrap="square" rtlCol="0">
            <a:spAutoFit/>
          </a:bodyPr>
          <a:lstStyle/>
          <a:p>
            <a:pPr algn="ctr"/>
            <a:r>
              <a:rPr lang="en-US" sz="4400" b="1" dirty="0">
                <a:solidFill>
                  <a:schemeClr val="bg1"/>
                </a:solidFill>
                <a:latin typeface="Arial Black" panose="020B0A04020102020204" pitchFamily="34" charset="0"/>
              </a:rPr>
              <a:t>RECOMMENDATIONS:</a:t>
            </a:r>
          </a:p>
        </p:txBody>
      </p:sp>
      <p:sp>
        <p:nvSpPr>
          <p:cNvPr id="5" name="TextBox 4">
            <a:extLst>
              <a:ext uri="{FF2B5EF4-FFF2-40B4-BE49-F238E27FC236}">
                <a16:creationId xmlns:a16="http://schemas.microsoft.com/office/drawing/2014/main" id="{13087961-D2B9-71FE-9583-15BFD1F15F87}"/>
              </a:ext>
            </a:extLst>
          </p:cNvPr>
          <p:cNvSpPr txBox="1"/>
          <p:nvPr/>
        </p:nvSpPr>
        <p:spPr>
          <a:xfrm>
            <a:off x="1356852" y="870155"/>
            <a:ext cx="9099754" cy="5632311"/>
          </a:xfrm>
          <a:prstGeom prst="rect">
            <a:avLst/>
          </a:prstGeom>
          <a:noFill/>
        </p:spPr>
        <p:txBody>
          <a:bodyPr wrap="square" rtlCol="0">
            <a:spAutoFit/>
          </a:bodyPr>
          <a:lstStyle/>
          <a:p>
            <a:pPr marL="285750" indent="-285750">
              <a:buFont typeface="Wingdings" panose="05000000000000000000" pitchFamily="2" charset="2"/>
              <a:buChar char="Ø"/>
            </a:pPr>
            <a:r>
              <a:rPr lang="en-US" sz="3600" dirty="0">
                <a:solidFill>
                  <a:schemeClr val="bg1"/>
                </a:solidFill>
                <a:latin typeface="Times New Roman" panose="02020603050405020304" pitchFamily="18" charset="0"/>
                <a:cs typeface="Times New Roman" panose="02020603050405020304" pitchFamily="18" charset="0"/>
              </a:rPr>
              <a:t> Zhi Gang Sha had the lowest review as an author. His book also had the lowest review. There should be an appraisal or possibly a reappraisal of his books to know what could be wrong, possibly they are not meeting the demands of the public.</a:t>
            </a:r>
          </a:p>
          <a:p>
            <a:pPr marL="285750" indent="-285750">
              <a:buFont typeface="Wingdings" panose="05000000000000000000" pitchFamily="2" charset="2"/>
              <a:buChar char="Ø"/>
            </a:pPr>
            <a:r>
              <a:rPr lang="en-US" sz="3600" dirty="0">
                <a:solidFill>
                  <a:schemeClr val="bg1"/>
                </a:solidFill>
                <a:latin typeface="Times New Roman" panose="02020603050405020304" pitchFamily="18" charset="0"/>
                <a:cs typeface="Times New Roman" panose="02020603050405020304" pitchFamily="18" charset="0"/>
              </a:rPr>
              <a:t>Others who also had low user ratings and reviews should probe into market demands to be able to serve their readers better subsequently. </a:t>
            </a:r>
          </a:p>
        </p:txBody>
      </p:sp>
    </p:spTree>
    <p:extLst>
      <p:ext uri="{BB962C8B-B14F-4D97-AF65-F5344CB8AC3E}">
        <p14:creationId xmlns:p14="http://schemas.microsoft.com/office/powerpoint/2010/main" val="2874232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B75A4E-1A41-7C8C-5F2D-613EF8BDB022}"/>
              </a:ext>
            </a:extLst>
          </p:cNvPr>
          <p:cNvSpPr/>
          <p:nvPr/>
        </p:nvSpPr>
        <p:spPr>
          <a:xfrm>
            <a:off x="0" y="0"/>
            <a:ext cx="12192000" cy="6858000"/>
          </a:xfrm>
          <a:prstGeom prst="rect">
            <a:avLst/>
          </a:prstGeom>
          <a:solidFill>
            <a:srgbClr val="1B6B6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5495DF0-4AFB-B369-891B-2BA953B898B1}"/>
              </a:ext>
            </a:extLst>
          </p:cNvPr>
          <p:cNvSpPr txBox="1"/>
          <p:nvPr/>
        </p:nvSpPr>
        <p:spPr>
          <a:xfrm>
            <a:off x="516193" y="1500858"/>
            <a:ext cx="10574594" cy="4708981"/>
          </a:xfrm>
          <a:prstGeom prst="rect">
            <a:avLst/>
          </a:prstGeom>
          <a:noFill/>
        </p:spPr>
        <p:txBody>
          <a:bodyPr wrap="square" rtlCol="0">
            <a:spAutoFit/>
          </a:bodyPr>
          <a:lstStyle/>
          <a:p>
            <a:pPr algn="ctr"/>
            <a:r>
              <a:rPr lang="en-US" sz="15000" b="1" dirty="0">
                <a:solidFill>
                  <a:schemeClr val="bg1"/>
                </a:solidFill>
                <a:latin typeface="Arial Black" panose="020B0A04020102020204" pitchFamily="34" charset="0"/>
              </a:rPr>
              <a:t> </a:t>
            </a:r>
            <a:r>
              <a:rPr lang="en-US" sz="15000" b="1" dirty="0">
                <a:solidFill>
                  <a:schemeClr val="bg1"/>
                </a:solidFill>
                <a:latin typeface="Arial Black" panose="020B0A04020102020204" pitchFamily="34" charset="0"/>
                <a:ea typeface="Lato" panose="020F0502020204030203" pitchFamily="34" charset="0"/>
                <a:cs typeface="Lato" panose="020F0502020204030203" pitchFamily="34" charset="0"/>
              </a:rPr>
              <a:t>THANK </a:t>
            </a:r>
          </a:p>
          <a:p>
            <a:pPr algn="ctr"/>
            <a:r>
              <a:rPr lang="en-US" sz="15000" b="1" dirty="0">
                <a:solidFill>
                  <a:schemeClr val="bg1"/>
                </a:solidFill>
                <a:latin typeface="Arial Black" panose="020B0A04020102020204" pitchFamily="34" charset="0"/>
                <a:ea typeface="Lato" panose="020F0502020204030203" pitchFamily="34" charset="0"/>
                <a:cs typeface="Lato" panose="020F0502020204030203" pitchFamily="34" charset="0"/>
              </a:rPr>
              <a:t>YOU</a:t>
            </a:r>
          </a:p>
        </p:txBody>
      </p:sp>
    </p:spTree>
    <p:extLst>
      <p:ext uri="{BB962C8B-B14F-4D97-AF65-F5344CB8AC3E}">
        <p14:creationId xmlns:p14="http://schemas.microsoft.com/office/powerpoint/2010/main" val="2893848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1015</TotalTime>
  <Words>483</Words>
  <Application>Microsoft Office PowerPoint</Application>
  <PresentationFormat>Widescreen</PresentationFormat>
  <Paragraphs>35</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Agency FB</vt:lpstr>
      <vt:lpstr>Aptos</vt:lpstr>
      <vt:lpstr>Aptos Display</vt:lpstr>
      <vt:lpstr>Arial</vt:lpstr>
      <vt:lpstr>Arial Black</vt:lpstr>
      <vt:lpstr>Lato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Nithya V</dc:creator>
  <cp:lastModifiedBy>babatundeayedoju@gmail.com</cp:lastModifiedBy>
  <cp:revision>9</cp:revision>
  <dcterms:created xsi:type="dcterms:W3CDTF">2025-01-21T03:35:07Z</dcterms:created>
  <dcterms:modified xsi:type="dcterms:W3CDTF">2026-01-09T12:45:47Z</dcterms:modified>
</cp:coreProperties>
</file>